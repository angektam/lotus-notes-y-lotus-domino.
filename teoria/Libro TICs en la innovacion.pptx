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 rtl="0">
      <a:defRPr lang="es-MX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90" autoAdjust="0"/>
    <p:restoredTop sz="94648" autoAdjust="0"/>
  </p:normalViewPr>
  <p:slideViewPr>
    <p:cSldViewPr snapToGrid="0">
      <p:cViewPr varScale="1">
        <p:scale>
          <a:sx n="105" d="100"/>
          <a:sy n="105" d="100"/>
        </p:scale>
        <p:origin x="6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A675962-B91C-485F-82BA-AFFFD56C2049}" type="datetime1">
              <a:rPr lang="es-MX" smtClean="0"/>
              <a:t>10/02/2026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CAB0AAD-FDE6-4B91-9BBB-87BEBEEE1304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MX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0DEF857-DA8F-4439-98D4-119A7351E455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MX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MX" noProof="0"/>
              <a:t>Editar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1131E1-3BD0-460E-BA82-FC23801633FC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6AD931A-E78D-42E6-B12F-6684BAA6AF27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MX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MX" noProof="0"/>
              <a:t>Editar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MX" noProof="0"/>
              <a:t>Editar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B21643-1C8A-4D2C-BA22-463B171FBC68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MX" noProof="0"/>
              <a:t>Editar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MX" noProof="0"/>
              <a:t>Editar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B338924-A0A5-4959-B0C7-BF88A8B970C6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896A21-D44E-4B50-9C1A-F3021CA46749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FB3CFC-2F50-4731-88BC-F499B3DDC9F1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MX" noProof="0"/>
              <a:t>Editar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MX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0228AB8-0EDD-44A2-BD0C-4DFA9597124E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MX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MX" noProof="0"/>
              <a:t>Haz clic en el ícono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MX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D352A9-1247-4C43-978C-EFE731D087A6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MX" noProof="0"/>
              <a:t>Editar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D0932E2-0636-48CC-883C-3BBC48C9B14E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MX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MX" noProof="0"/>
              <a:t>Editar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3EA9BAE-AB85-46D2-8596-23E804B52F3A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MX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MX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MX" noProof="0"/>
              <a:t>Editar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EBFB8F8B-610F-451B-BF60-DC0410C03F50}" type="datetime1">
              <a:rPr lang="es-MX" noProof="0" smtClean="0"/>
              <a:t>10/02/2026</a:t>
            </a:fld>
            <a:endParaRPr lang="es-MX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MX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MX" noProof="0" smtClean="0"/>
              <a:pPr rtl="0"/>
              <a:t>‹Nº›</a:t>
            </a:fld>
            <a:endParaRPr lang="es-MX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r>
              <a:rPr lang="es-MX" dirty="0">
                <a:solidFill>
                  <a:schemeClr val="bg1">
                    <a:lumMod val="95000"/>
                  </a:schemeClr>
                </a:solidFill>
              </a:rPr>
              <a:t>Libro </a:t>
            </a:r>
            <a:r>
              <a:rPr lang="es-MX" dirty="0" err="1">
                <a:solidFill>
                  <a:schemeClr val="bg1">
                    <a:lumMod val="95000"/>
                  </a:schemeClr>
                </a:solidFill>
              </a:rPr>
              <a:t>TICs</a:t>
            </a:r>
            <a:r>
              <a:rPr lang="es-MX" dirty="0">
                <a:solidFill>
                  <a:schemeClr val="bg1">
                    <a:lumMod val="95000"/>
                  </a:schemeClr>
                </a:solidFill>
              </a:rPr>
              <a:t> en la </a:t>
            </a:r>
            <a:r>
              <a:rPr lang="es-MX" dirty="0" err="1">
                <a:solidFill>
                  <a:schemeClr val="bg1">
                    <a:lumMod val="95000"/>
                  </a:schemeClr>
                </a:solidFill>
              </a:rPr>
              <a:t>innovacion</a:t>
            </a:r>
            <a:endParaRPr lang="es-MX" sz="6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endParaRPr lang="es-MX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A60BC-7460-C500-6F0E-2CB303F6A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921612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Parte 1: Capítulo I - Implementación de las TIC en las Empresas Manufactureras de Bogotá D.C.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F808A2-BF33-1943-EDD6-799320109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1. Propósito de la Investigación</a:t>
            </a:r>
            <a:endParaRPr lang="es-MX" dirty="0"/>
          </a:p>
          <a:p>
            <a:r>
              <a:rPr lang="es-MX" dirty="0"/>
              <a:t>Reconocer las tácticas empleadas por las MiPymes manufactureras de Bogotá en la aplicación de Tecnologías de la Información y Comunicación (TIC) en sus procesos de producción y administración.</a:t>
            </a:r>
          </a:p>
          <a:p>
            <a:r>
              <a:rPr lang="es-MX" b="1" dirty="0"/>
              <a:t>2. Metodología Utilizada</a:t>
            </a:r>
            <a:endParaRPr lang="es-MX" dirty="0"/>
          </a:p>
          <a:p>
            <a:r>
              <a:rPr lang="es-MX" b="1" dirty="0"/>
              <a:t>Enfoque:</a:t>
            </a:r>
            <a:r>
              <a:rPr lang="es-MX" dirty="0"/>
              <a:t> Mixto (cualitativo y cuantitativo) con alcance descriptivo.</a:t>
            </a:r>
          </a:p>
          <a:p>
            <a:r>
              <a:rPr lang="es-MX" b="1" dirty="0"/>
              <a:t>Muestra:</a:t>
            </a:r>
            <a:r>
              <a:rPr lang="es-MX" dirty="0"/>
              <a:t> 170 encuestas válidas aplicadas en empresas donde laboran estudiantes de la Facultad de Ciencias Empresariales.</a:t>
            </a:r>
          </a:p>
          <a:p>
            <a:r>
              <a:rPr lang="es-MX" b="1" dirty="0"/>
              <a:t>Clasificación:</a:t>
            </a:r>
            <a:r>
              <a:rPr lang="es-MX" dirty="0"/>
              <a:t> El 64.7% de las empresas encuestadas (110) son MiPymes.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12354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364C7-5246-4803-811F-E3037EC34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DA81EB-BD12-1D79-475C-97596C5F0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3. Principales Hallazgos</a:t>
            </a:r>
            <a:endParaRPr lang="es-MX" dirty="0"/>
          </a:p>
          <a:p>
            <a:r>
              <a:rPr lang="es-MX" b="1" dirty="0"/>
              <a:t>Uso de Herramientas Tecnológicas:</a:t>
            </a:r>
            <a:r>
              <a:rPr lang="es-MX" dirty="0"/>
              <a:t> El 70% de las MiPymes utiliza herramientas como diseño asistido, ofimática, inteligencia de mercado y simuladores en sus procesos productivos.</a:t>
            </a:r>
          </a:p>
          <a:p>
            <a:r>
              <a:rPr lang="es-MX" b="1" dirty="0"/>
              <a:t>Grado de Automatización:</a:t>
            </a:r>
            <a:r>
              <a:rPr lang="es-MX" dirty="0"/>
              <a:t> Un alto porcentaje (88%) presenta procesos automatizados, intercambio de información integrado, localización GPS o presencia en mercados digitales.</a:t>
            </a:r>
          </a:p>
          <a:p>
            <a:r>
              <a:rPr lang="es-MX" b="1" dirty="0"/>
              <a:t>Estrategias de Comercialización:</a:t>
            </a:r>
            <a:r>
              <a:rPr lang="es-MX" dirty="0"/>
              <a:t> Predominan las estrategias convencionales (87.5%), basadas en destacar características del producto frente a la competencia, sobre los modelos de negocio digitales puros.</a:t>
            </a:r>
          </a:p>
          <a:p>
            <a:r>
              <a:rPr lang="es-MX" b="1" dirty="0"/>
              <a:t>Integración de la Cadena de Valor:</a:t>
            </a:r>
            <a:r>
              <a:rPr lang="es-MX" dirty="0"/>
              <a:t> El 69.9% ha implementado algún grado de sistematización en su cadena de valor primaria y secundaria mediante software especializado.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660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3AE15-D0B2-A6CE-4060-B142228A5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99201"/>
            <a:ext cx="11029616" cy="1013800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Parte 2: Capítulo VI - Uso de Aplicaciones en las PYMES de Bogotá para procesos de Comercio Exterior</a:t>
            </a:r>
            <a:br>
              <a:rPr lang="es-MX" b="1" dirty="0"/>
            </a:b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3EFD58-4AFE-D1C9-DF56-8829EC411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1. Contexto y Problemática</a:t>
            </a:r>
            <a:endParaRPr lang="es-MX" dirty="0"/>
          </a:p>
          <a:p>
            <a:r>
              <a:rPr lang="es-MX" b="1" dirty="0"/>
              <a:t>Relevancia de las PYMES:</a:t>
            </a:r>
            <a:r>
              <a:rPr lang="es-MX" dirty="0"/>
              <a:t> Constituyen el 90% del sector productivo colombiano, generan el 80% del empleo y aportan el 35% del PIB.</a:t>
            </a:r>
          </a:p>
          <a:p>
            <a:r>
              <a:rPr lang="es-MX" b="1" dirty="0"/>
              <a:t>Barreras en Comercio Exterior:</a:t>
            </a:r>
            <a:endParaRPr lang="es-MX" dirty="0"/>
          </a:p>
          <a:p>
            <a:pPr lvl="1"/>
            <a:r>
              <a:rPr lang="es-MX" dirty="0"/>
              <a:t>Procedimientos aduaneros y plazos de inspección son cuellos de botella.</a:t>
            </a:r>
          </a:p>
          <a:p>
            <a:pPr lvl="1"/>
            <a:r>
              <a:rPr lang="es-MX" dirty="0"/>
              <a:t>Preferencia de las agencias aduaneras por grandes exportadores.</a:t>
            </a:r>
          </a:p>
          <a:p>
            <a:r>
              <a:rPr lang="es-MX" b="1" dirty="0"/>
              <a:t>Ineficiencia en Tiempos:</a:t>
            </a:r>
            <a:r>
              <a:rPr lang="es-MX" dirty="0"/>
              <a:t> El despacho marítimo promedio tarda 6.5 días (156 horas). El 71.73% de este tiempo se atribuye a demoras del declarante, terminal o autoridades, frecuentemente por falta de documentación adecuada.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7560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4141E5-E118-0319-77C5-9B5656181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12FCC8-63CF-AA75-84B2-C7B8901D5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2. Propuesta: Aplicaciones Móviles como Solución</a:t>
            </a:r>
            <a:endParaRPr lang="es-MX" dirty="0"/>
          </a:p>
          <a:p>
            <a:r>
              <a:rPr lang="es-MX" b="1" dirty="0"/>
              <a:t>Control Operativo:</a:t>
            </a:r>
            <a:r>
              <a:rPr lang="es-MX" dirty="0"/>
              <a:t> Desarrollo de aplicaciones que permitan a importadores/exportadores el manejo directo, reduciendo la dependencia de intermediarios.</a:t>
            </a:r>
          </a:p>
          <a:p>
            <a:r>
              <a:rPr lang="es-MX" b="1" dirty="0"/>
              <a:t>Trazabilidad:</a:t>
            </a:r>
            <a:r>
              <a:rPr lang="es-MX" dirty="0"/>
              <a:t> Facilitar el seguimiento en tiempo real de mercancías, validación de requisitos legales y conocimiento preciso de cada etapa del proceso.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57887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2DE03-4AD8-367C-49AF-645FBDEA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46F44F-7EE5-731E-99D2-D8BC887B2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b="1" dirty="0"/>
              <a:t>3. Resultados de la Encuesta en PYMES</a:t>
            </a:r>
            <a:endParaRPr lang="es-MX" dirty="0"/>
          </a:p>
          <a:p>
            <a:r>
              <a:rPr lang="es-MX" b="1" dirty="0"/>
              <a:t>Autopercepción Tecnológica:</a:t>
            </a:r>
            <a:r>
              <a:rPr lang="es-MX" dirty="0"/>
              <a:t> El 69% de los empresarios considera que su empresa responde "rápidamente" a los cambios tecnológicos.</a:t>
            </a:r>
          </a:p>
          <a:p>
            <a:r>
              <a:rPr lang="es-MX" b="1" dirty="0"/>
              <a:t>Capacidad Exportadora:</a:t>
            </a:r>
            <a:r>
              <a:rPr lang="es-MX" dirty="0"/>
              <a:t> Solo el 10% de las PYMES manufactureras ha contemplado seriamente expandirse a mercados internacionales.</a:t>
            </a:r>
          </a:p>
          <a:p>
            <a:r>
              <a:rPr lang="es-MX" b="1" dirty="0"/>
              <a:t>Apoyo Gubernamental:</a:t>
            </a:r>
            <a:r>
              <a:rPr lang="es-MX" dirty="0"/>
              <a:t> El 95.3% de las organizaciones manifiesta </a:t>
            </a:r>
            <a:r>
              <a:rPr lang="es-MX" b="1" dirty="0"/>
              <a:t>no haber recibido respaldo</a:t>
            </a:r>
            <a:r>
              <a:rPr lang="es-MX" dirty="0"/>
              <a:t> de entidades gubernamentales para realizar transacciones internacionales mediante aplicaciones.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6323382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71_TF56390039_Win32" id="{6E439996-84EB-442B-81F0-3A34FA2EB35A}" vid="{07E61665-08E7-4204-B220-B3D664A24A2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Diseño tecnológico</Template>
  <TotalTime>4</TotalTime>
  <Words>475</Words>
  <Application>Microsoft Office PowerPoint</Application>
  <PresentationFormat>Panorámica</PresentationFormat>
  <Paragraphs>28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Calibri</vt:lpstr>
      <vt:lpstr>Gill Sans MT</vt:lpstr>
      <vt:lpstr>Wingdings 2</vt:lpstr>
      <vt:lpstr>Dividendo</vt:lpstr>
      <vt:lpstr>Libro TICs en la innovacion</vt:lpstr>
      <vt:lpstr>Parte 1: Capítulo I - Implementación de las TIC en las Empresas Manufactureras de Bogotá D.C. </vt:lpstr>
      <vt:lpstr>Presentación de PowerPoint</vt:lpstr>
      <vt:lpstr>Parte 2: Capítulo VI - Uso de Aplicaciones en las PYMES de Bogotá para procesos de Comercio Exterior 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Flores Guevara</dc:creator>
  <cp:lastModifiedBy>angel Flores Guevara</cp:lastModifiedBy>
  <cp:revision>1</cp:revision>
  <dcterms:created xsi:type="dcterms:W3CDTF">2026-02-10T20:35:00Z</dcterms:created>
  <dcterms:modified xsi:type="dcterms:W3CDTF">2026-02-10T20:39:35Z</dcterms:modified>
</cp:coreProperties>
</file>